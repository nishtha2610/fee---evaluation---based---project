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57200"/>
            <a:ext cx="10728655" cy="24688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1174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BBF24"/>
                </a:solidFill>
              </a:defRPr>
            </a:pPr>
            <a:r>
              <a:rPr sz="3200" i="1" u="sng" dirty="0"/>
              <a:t>Restaurant Table Ordering System (Queen's Kitchen)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EF4444"/>
                </a:solidFill>
              </a:defRPr>
            </a:pPr>
            <a:r>
              <a:rPr sz="1600" dirty="0"/>
              <a:t>Front End Engineering - I (25CSE0203) — Project Based Evaluation-I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38BDF8"/>
                </a:solidFill>
              </a:defRPr>
            </a:pPr>
            <a:r>
              <a:rPr sz="1400" dirty="0"/>
              <a:t>Department of Computer Science &amp; Engineering • Chitkara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10728655" cy="320040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83461" y="3291840"/>
            <a:ext cx="50247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</a:defRPr>
            </a:pPr>
            <a:r>
              <a:rPr sz="1600" i="1" u="sng" dirty="0"/>
              <a:t>TEAM MEMBERS (GROUP G14 | PROJECT ID: G14-PID-11)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794760"/>
            <a:ext cx="822960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rPr sz="1600" dirty="0"/>
              <a:t>•   </a:t>
            </a:r>
            <a:r>
              <a:rPr sz="1600" u="sng" dirty="0"/>
              <a:t>Priyanshi</a:t>
            </a:r>
            <a:r>
              <a:rPr sz="1600" dirty="0"/>
              <a:t> (Team Leader)   —   Roll No: 2510990889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rPr sz="1600" dirty="0"/>
              <a:t>•   </a:t>
            </a:r>
            <a:r>
              <a:rPr sz="1600" u="sng" dirty="0"/>
              <a:t>Nishtha Sharma</a:t>
            </a:r>
            <a:r>
              <a:rPr sz="1600" dirty="0"/>
              <a:t>   —   Roll No: 2510990840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rPr sz="1600" dirty="0"/>
              <a:t>•   </a:t>
            </a:r>
            <a:r>
              <a:rPr sz="1600" u="sng" dirty="0"/>
              <a:t>Priyanshi </a:t>
            </a:r>
            <a:r>
              <a:rPr sz="1600" dirty="0"/>
              <a:t>  —   Roll No: 2510990916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</a:defRPr>
            </a:pPr>
            <a:r>
              <a:rPr sz="1600" dirty="0"/>
              <a:t>•   </a:t>
            </a:r>
            <a:r>
              <a:rPr sz="1600" u="sng" dirty="0"/>
              <a:t>Trisha Jindal   </a:t>
            </a:r>
            <a:r>
              <a:rPr sz="1600" dirty="0"/>
              <a:t>—   Roll No: 2510990815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411480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GROUP G14 • PROJECT ID: G14-PID-11 (P-21) • FRONT END ENGINEERING -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BF24"/>
                </a:solidFill>
              </a:defRPr>
            </a:pPr>
            <a:r>
              <a:t>Project Vision &amp; Core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29000" cy="438912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6324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BBF24"/>
                </a:solidFill>
              </a:defRPr>
            </a:pPr>
            <a:r>
              <a:rPr sz="1600" i="1" u="sng" dirty="0"/>
              <a:t>01. The Problem &amp; Need</a:t>
            </a:r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r>
              <a:rPr sz="1200" dirty="0"/>
              <a:t>•  Dining floor order delays caused by manual paper order slips.</a:t>
            </a:r>
            <a:endParaRPr lang="en-IN"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r>
              <a:rPr sz="1200" dirty="0"/>
              <a:t>•  Waitstaff travel overhead between dining tables and kitchen chefs.</a:t>
            </a:r>
            <a:endParaRPr lang="en-IN"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r>
              <a:rPr sz="1200" dirty="0"/>
              <a:t>•  Risk of misplaced paper tickets during peak dining rush hours.</a:t>
            </a:r>
            <a:endParaRPr lang="en-IN"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r>
              <a:rPr sz="1200" dirty="0"/>
              <a:t>•  Lack of live order status visibility for seated restaurant guests.</a:t>
            </a:r>
            <a:endParaRPr lang="en-IN"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r>
              <a:rPr sz="1200" dirty="0"/>
              <a:t>•  Need for a modular, high-speed digital table ordering SPA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83080"/>
            <a:ext cx="3429000" cy="438912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1920240"/>
            <a:ext cx="306324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BBF24"/>
                </a:solidFill>
              </a:defRPr>
            </a:pPr>
            <a:r>
              <a:rPr sz="1600" i="1" u="sng" dirty="0"/>
              <a:t>02. What We Built</a:t>
            </a:r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r>
              <a:rPr sz="1200" dirty="0"/>
              <a:t>•  React 18 single page application for dynamic table ordering.</a:t>
            </a:r>
            <a:endParaRPr lang="en-IN"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r>
              <a:rPr sz="1200" dirty="0"/>
              <a:t>•  Live Kitchen Display System (KDS) for instant order dispatch.</a:t>
            </a:r>
            <a:endParaRPr lang="en-IN"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r>
              <a:rPr sz="1200" dirty="0"/>
              <a:t>•  Multi-table cart state persistence across active seated tables.</a:t>
            </a:r>
            <a:endParaRPr lang="en-IN"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r>
              <a:rPr sz="1200" dirty="0"/>
              <a:t>•  Automated billing engine with 5% GST and ₹10 Service Charge.</a:t>
            </a:r>
            <a:endParaRPr lang="en-IN"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r>
              <a:rPr sz="1200" dirty="0"/>
              <a:t>•  Built-in Re-Render Audit profiling tool for DOM performance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783080"/>
            <a:ext cx="3429000" cy="438912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93023" y="1920240"/>
            <a:ext cx="306324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BBF24"/>
                </a:solidFill>
              </a:defRPr>
            </a:pPr>
            <a:r>
              <a:rPr sz="1600" i="1" u="sng" dirty="0"/>
              <a:t>03. Key Objectives</a:t>
            </a:r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r>
              <a:rPr sz="1200" dirty="0"/>
              <a:t>•  Eliminate order lag via centralized multi-table state management.</a:t>
            </a:r>
            <a:endParaRPr lang="en-IN"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r>
              <a:rPr sz="1200" dirty="0"/>
              <a:t>•  Optimize component re-renders during high-volume cart updates.</a:t>
            </a:r>
            <a:endParaRPr lang="en-IN"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r>
              <a:rPr sz="1200" dirty="0"/>
              <a:t>•  Provide intuitive table status tracking (Ordering, Served, Billed).</a:t>
            </a:r>
            <a:endParaRPr lang="en-IN"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r>
              <a:rPr sz="1200" dirty="0"/>
              <a:t>•  Stress-test React Fiber reconciliation using dynamic menu data.</a:t>
            </a:r>
            <a:endParaRPr lang="en-IN"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800"/>
              </a:spcBef>
              <a:defRPr sz="950">
                <a:solidFill>
                  <a:srgbClr val="FEF3C7"/>
                </a:solidFill>
              </a:defRPr>
            </a:pPr>
            <a:r>
              <a:rPr sz="1200" dirty="0"/>
              <a:t>•  Deliver a scalable, production-ready frontend for restaurant operations.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411480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GROUP G14 • PROJECT ID: G14-PID-11 (P-21) • FRONT END ENGINEERING -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BF24"/>
                </a:solidFill>
              </a:defRPr>
            </a:pPr>
            <a:r>
              <a:t>Syllabus-Aligned 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91639"/>
            <a:ext cx="3154680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/>
              <a:t>React 18 (SPA Engine)</a:t>
            </a:r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Declarative component UI engine.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Virtual DOM reconciliation &amp; fiber tree.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Concurrent rendering &amp; state batching.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Component lifecycle &amp; custom hooks.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54480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8507" y="1645544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/>
              <a:t>Vite 5 (Build Tool)</a:t>
            </a:r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Lightning-fast Hot Module Replacement (HMR).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Native ES Module development server.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Optimized Rollup production bundler.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Zero-config fast startup environment.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554480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68640" y="1645544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/>
              <a:t>React Router v6</a:t>
            </a:r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Client-side single page navigation.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Smooth route switching (/Home, /Kitchen, /Audit).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Active state matching &amp; URL parameters.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Declarative Route &amp; Link components.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114800"/>
            <a:ext cx="3154680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/>
              <a:t>React Icons</a:t>
            </a:r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Scalable vector SVG icon library.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Lightweight &amp; accessible icons.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Intuitive cart, table, &amp; kitchen visual cues.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Seamless UI action indicators.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977639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4062433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/>
              <a:t>CSS3 &amp; Flexbox/Grid</a:t>
            </a:r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Custom responsive layout architecture.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Dark mahogany &amp; gold visual theme palette.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</a:t>
            </a:r>
            <a:r>
              <a:rPr sz="1200" dirty="0" err="1"/>
              <a:t>Glassmorphic</a:t>
            </a:r>
            <a:r>
              <a:rPr sz="1200" dirty="0"/>
              <a:t> card containers &amp; rounded borders.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Fluid desktop &amp; mobile display scaling.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3977639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8640" y="4055186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/>
              <a:t>Centralized State Layer</a:t>
            </a:r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Global state container at </a:t>
            </a:r>
            <a:r>
              <a:rPr sz="1200" dirty="0" err="1"/>
              <a:t>App.jsx</a:t>
            </a:r>
            <a:r>
              <a:rPr sz="1200" dirty="0"/>
              <a:t> root.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Synchronizes multi-table carts &amp; order queues.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Instant state dispatch to Kitchen View.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Persistent table status synchronization.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411480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GROUP G14 • PROJECT ID: G14-PID-11 (P-21) • FRONT END ENGINEERING -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BF24"/>
                </a:solidFill>
              </a:defRPr>
            </a:pPr>
            <a:r>
              <a:t>Core Component Architecture &amp; Modularity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27434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 err="1"/>
              <a:t>Header.jsx</a:t>
            </a:r>
            <a:endParaRPr sz="1600" i="1" u="sng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Table selector dropdown &amp; seating capacity filter.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Dataset benchmark toggle (9 vs 200 items).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Real-time audit mode banner indicator.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Navigation routing links for SPA 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554480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07992" y="1636776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 err="1"/>
              <a:t>OrderSidebar.jsx</a:t>
            </a:r>
            <a:endParaRPr sz="1600" i="1" u="sng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Draft cart item manager &amp; quantity controls.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Cumulative billed history view per table.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Automated 5% GST &amp; ₹10 Service Charge split.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One-click 'Send to Kitchen' order dispatch.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554480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7304" y="1631407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 err="1"/>
              <a:t>MenuCard.jsx</a:t>
            </a:r>
            <a:endParaRPr sz="1600" i="1" u="sng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Dish thumbnail display with 16:9 crop.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Portion size badges &amp; dietary tags (Veg/Non-Veg).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Price display in Terracotta Orange styling.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Add to Cart trigger with real-time feedback.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055186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 err="1"/>
              <a:t>KitchenView.jsx</a:t>
            </a:r>
            <a:endParaRPr sz="1600" i="1" u="sng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Real-time kitchen tickets queue for active tables.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Dish breakdown, quantities, &amp; special notes.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'Mark as Served' chef action trigger.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Live status sync updating table indicators.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3977639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4024370"/>
            <a:ext cx="3154680" cy="2239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400" i="1" u="sng" dirty="0" err="1"/>
              <a:t>ReRenderAuditPanel.jsx</a:t>
            </a:r>
            <a:endParaRPr sz="1400" i="1" u="sng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Empirical component re-render event logger.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Performance metric comparison (Naive vs Optimized).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Live re-render counter badges per component.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Interactive DOM profiling benchmark suite.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3977639"/>
            <a:ext cx="3429000" cy="224028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47304" y="4055186"/>
            <a:ext cx="315468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BF24"/>
                </a:solidFill>
              </a:defRPr>
            </a:pPr>
            <a:r>
              <a:rPr sz="1600" i="1" u="sng" dirty="0"/>
              <a:t>menuData.js</a:t>
            </a:r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Decoupled array-of-objects data schema.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Dynamic 200-item benchmark dataset generator.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Price, category, &amp; portion metadata specs.</a:t>
            </a:r>
            <a:endParaRPr lang="en-IN"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300"/>
              </a:spcBef>
              <a:defRPr sz="880">
                <a:solidFill>
                  <a:srgbClr val="FEF3C7"/>
                </a:solidFill>
              </a:defRPr>
            </a:pPr>
            <a:r>
              <a:rPr sz="1200" dirty="0"/>
              <a:t>•  Pure data provider maintaining clean </a:t>
            </a:r>
            <a:r>
              <a:rPr sz="1200" dirty="0" err="1"/>
              <a:t>SoC.</a:t>
            </a:r>
            <a:endParaRPr sz="1200" dirty="0"/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411480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GROUP G14 • PROJECT ID: G14-PID-11 (P-21) • FRONT END ENGINEERING -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BF24"/>
                </a:solidFill>
              </a:defRPr>
            </a:pPr>
            <a:r>
              <a:t>Culinary Menu Dataset &amp; Portion Scaling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0574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rop_gold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57400"/>
            <a:ext cx="1874519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3200400"/>
            <a:ext cx="196596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BBF24"/>
                </a:solidFill>
              </a:defRPr>
            </a:pPr>
            <a:r>
              <a:rPr sz="1400" i="1" u="sng" dirty="0"/>
              <a:t>Samosa &amp; Chutney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F97316"/>
                </a:solidFill>
              </a:defRPr>
            </a:pPr>
            <a:r>
              <a:rPr dirty="0"/>
              <a:t>₹60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4D399"/>
                </a:solidFill>
              </a:defRPr>
            </a:pPr>
            <a:r>
              <a:rPr sz="1400" dirty="0"/>
              <a:t>VEG • SNACK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8BDF8"/>
                </a:solidFill>
              </a:defRPr>
            </a:pPr>
            <a:r>
              <a:rPr sz="1400" dirty="0"/>
              <a:t>2 Pcs with Mint Chutney</a:t>
            </a:r>
          </a:p>
          <a:p>
            <a:pPr algn="ctr">
              <a:spcBef>
                <a:spcPts val="300"/>
              </a:spcBef>
              <a:defRPr sz="850">
                <a:solidFill>
                  <a:srgbClr val="FEF3C7"/>
                </a:solidFill>
              </a:defRPr>
            </a:pPr>
            <a:r>
              <a:rPr sz="1400" dirty="0"/>
              <a:t>Crispy golden pastry filled with spiced potatoes.</a:t>
            </a:r>
          </a:p>
          <a:p>
            <a:pPr algn="ctr">
              <a:spcBef>
                <a:spcPts val="300"/>
              </a:spcBef>
              <a:defRPr sz="800" b="1">
                <a:solidFill>
                  <a:srgbClr val="FDE047"/>
                </a:solidFill>
              </a:defRPr>
            </a:pPr>
            <a:r>
              <a:rPr sz="1400" dirty="0"/>
              <a:t>Stock: Available • Prep: 10 Mins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965960"/>
            <a:ext cx="20574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rop_gold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2057400"/>
            <a:ext cx="1874519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971800" y="3200400"/>
            <a:ext cx="196596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BBF24"/>
                </a:solidFill>
              </a:defRPr>
            </a:pPr>
            <a:r>
              <a:rPr sz="1400" i="1" u="sng" dirty="0"/>
              <a:t>Dal Makhani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F97316"/>
                </a:solidFill>
              </a:defRPr>
            </a:pPr>
            <a:r>
              <a:rPr dirty="0"/>
              <a:t>₹180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4D399"/>
                </a:solidFill>
              </a:defRPr>
            </a:pPr>
            <a:r>
              <a:rPr sz="1400" dirty="0"/>
              <a:t>VEG • MAIN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8BDF8"/>
                </a:solidFill>
              </a:defRPr>
            </a:pPr>
            <a:r>
              <a:rPr sz="1400" dirty="0"/>
              <a:t>300g Serving Bowl</a:t>
            </a:r>
          </a:p>
          <a:p>
            <a:pPr algn="ctr">
              <a:spcBef>
                <a:spcPts val="300"/>
              </a:spcBef>
              <a:defRPr sz="850">
                <a:solidFill>
                  <a:srgbClr val="FEF3C7"/>
                </a:solidFill>
              </a:defRPr>
            </a:pPr>
            <a:r>
              <a:rPr sz="1400" dirty="0"/>
              <a:t>Slow-cooked black lentils simmered overnight in cream.</a:t>
            </a:r>
          </a:p>
          <a:p>
            <a:pPr algn="ctr">
              <a:spcBef>
                <a:spcPts val="300"/>
              </a:spcBef>
              <a:defRPr sz="800" b="1">
                <a:solidFill>
                  <a:srgbClr val="FDE047"/>
                </a:solidFill>
              </a:defRPr>
            </a:pPr>
            <a:r>
              <a:rPr sz="1400" dirty="0"/>
              <a:t>Stock: Available • Prep: 15 Mins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1965960"/>
            <a:ext cx="20574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rop_gold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79" y="2057400"/>
            <a:ext cx="1874519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66359" y="3200400"/>
            <a:ext cx="196596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BBF24"/>
                </a:solidFill>
              </a:defRPr>
            </a:pPr>
            <a:r>
              <a:rPr sz="1350" i="1" u="sng" dirty="0"/>
              <a:t>Garlic Butter Naan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F97316"/>
                </a:solidFill>
              </a:defRPr>
            </a:pPr>
            <a:r>
              <a:rPr sz="1350" dirty="0"/>
              <a:t>₹60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4D399"/>
                </a:solidFill>
              </a:defRPr>
            </a:pPr>
            <a:r>
              <a:rPr sz="1350" dirty="0"/>
              <a:t>VEG • BREAD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8BDF8"/>
                </a:solidFill>
              </a:defRPr>
            </a:pPr>
            <a:r>
              <a:rPr sz="1350" dirty="0"/>
              <a:t>3 Pcs Oven Baked</a:t>
            </a:r>
          </a:p>
          <a:p>
            <a:pPr algn="ctr">
              <a:spcBef>
                <a:spcPts val="300"/>
              </a:spcBef>
              <a:defRPr sz="850">
                <a:solidFill>
                  <a:srgbClr val="FEF3C7"/>
                </a:solidFill>
              </a:defRPr>
            </a:pPr>
            <a:r>
              <a:rPr sz="1350" dirty="0"/>
              <a:t>Tandoor-baked flatbread brushed with garlic butter.</a:t>
            </a:r>
          </a:p>
          <a:p>
            <a:pPr algn="ctr">
              <a:spcBef>
                <a:spcPts val="300"/>
              </a:spcBef>
              <a:defRPr sz="800" b="1">
                <a:solidFill>
                  <a:srgbClr val="FDE047"/>
                </a:solidFill>
              </a:defRPr>
            </a:pPr>
            <a:r>
              <a:rPr sz="1350" dirty="0"/>
              <a:t>Stock: Available • Prep: 8 Mins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199" y="1965960"/>
            <a:ext cx="20574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crop_gold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2057400"/>
            <a:ext cx="1874519" cy="1097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360919" y="3200400"/>
            <a:ext cx="196596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BBF24"/>
                </a:solidFill>
              </a:defRPr>
            </a:pPr>
            <a:r>
              <a:rPr sz="1400" i="1" u="sng" dirty="0"/>
              <a:t>Cheesy Fries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F97316"/>
                </a:solidFill>
              </a:defRPr>
            </a:pPr>
            <a:r>
              <a:rPr dirty="0"/>
              <a:t>₹150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4D399"/>
                </a:solidFill>
              </a:defRPr>
            </a:pPr>
            <a:r>
              <a:rPr sz="1400" dirty="0"/>
              <a:t>VEG • FAST FOOD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8BDF8"/>
                </a:solidFill>
              </a:defRPr>
            </a:pPr>
            <a:r>
              <a:rPr sz="1400" dirty="0"/>
              <a:t>250g Loaded Basket</a:t>
            </a:r>
          </a:p>
          <a:p>
            <a:pPr algn="ctr">
              <a:spcBef>
                <a:spcPts val="300"/>
              </a:spcBef>
              <a:defRPr sz="850">
                <a:solidFill>
                  <a:srgbClr val="FEF3C7"/>
                </a:solidFill>
              </a:defRPr>
            </a:pPr>
            <a:r>
              <a:rPr sz="1400" dirty="0"/>
              <a:t>Golden fries smothered in melted cheese.</a:t>
            </a:r>
          </a:p>
          <a:p>
            <a:pPr algn="ctr">
              <a:spcBef>
                <a:spcPts val="300"/>
              </a:spcBef>
              <a:defRPr sz="800" b="1">
                <a:solidFill>
                  <a:srgbClr val="FDE047"/>
                </a:solidFill>
              </a:defRPr>
            </a:pPr>
            <a:r>
              <a:rPr sz="1400" dirty="0"/>
              <a:t>Stock: Available • Prep: 12 Mins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1965960"/>
            <a:ext cx="20574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crop_gold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2057400"/>
            <a:ext cx="1874519" cy="1097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55480" y="3200400"/>
            <a:ext cx="196596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BBF24"/>
                </a:solidFill>
              </a:defRPr>
            </a:pPr>
            <a:r>
              <a:rPr sz="1400" i="1" u="sng" dirty="0"/>
              <a:t>Gulab Jamun</a:t>
            </a:r>
          </a:p>
          <a:p>
            <a:pPr algn="ctr">
              <a:spcBef>
                <a:spcPts val="200"/>
              </a:spcBef>
              <a:defRPr sz="1300" b="1">
                <a:solidFill>
                  <a:srgbClr val="F97316"/>
                </a:solidFill>
              </a:defRPr>
            </a:pPr>
            <a:r>
              <a:rPr dirty="0"/>
              <a:t>₹120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4D399"/>
                </a:solidFill>
              </a:defRPr>
            </a:pPr>
            <a:r>
              <a:rPr sz="1400" dirty="0"/>
              <a:t>DESSERT • POPULAR</a:t>
            </a:r>
          </a:p>
          <a:p>
            <a:pPr algn="ctr">
              <a:spcBef>
                <a:spcPts val="200"/>
              </a:spcBef>
              <a:defRPr sz="880" b="1">
                <a:solidFill>
                  <a:srgbClr val="38BDF8"/>
                </a:solidFill>
              </a:defRPr>
            </a:pPr>
            <a:r>
              <a:rPr sz="1400" dirty="0"/>
              <a:t>2 Jamuns + Scoop</a:t>
            </a:r>
          </a:p>
          <a:p>
            <a:pPr algn="ctr">
              <a:spcBef>
                <a:spcPts val="300"/>
              </a:spcBef>
              <a:defRPr sz="850">
                <a:solidFill>
                  <a:srgbClr val="FEF3C7"/>
                </a:solidFill>
              </a:defRPr>
            </a:pPr>
            <a:r>
              <a:rPr sz="1400" dirty="0"/>
              <a:t>Warm jamuns served with cold vanilla ice cream.</a:t>
            </a:r>
          </a:p>
          <a:p>
            <a:pPr algn="ctr">
              <a:spcBef>
                <a:spcPts val="300"/>
              </a:spcBef>
              <a:defRPr sz="800" b="1">
                <a:solidFill>
                  <a:srgbClr val="FDE047"/>
                </a:solidFill>
              </a:defRPr>
            </a:pPr>
            <a:r>
              <a:rPr sz="1400" dirty="0"/>
              <a:t>Stock: Available • Prep: 5 Mins</a:t>
            </a:r>
          </a:p>
        </p:txBody>
      </p:sp>
    </p:spTree>
  </p:cSld>
  <p:clrMapOvr>
    <a:masterClrMapping/>
  </p:clrMapOvr>
  <p:transition spd="med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411480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GROUP G14 • PROJECT ID: G14-PID-11 (P-21) • FRONT END ENGINEERING -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BF24"/>
                </a:solidFill>
              </a:defRPr>
            </a:pPr>
            <a:r>
              <a:t>Multi-Table State Management &amp; Kitchen Sync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11480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lear_k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4937760" cy="3849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26480" y="1783080"/>
            <a:ext cx="5333695" cy="411480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982279"/>
            <a:ext cx="4967935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BBF24"/>
                </a:solidFill>
              </a:defRPr>
            </a:pPr>
            <a:r>
              <a:rPr sz="1600" u="sng" dirty="0"/>
              <a:t>State Synchronization Mechanics</a:t>
            </a:r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r>
              <a:rPr sz="1200" dirty="0"/>
              <a:t>•  Centralized State Hub (</a:t>
            </a:r>
            <a:r>
              <a:rPr sz="1200" dirty="0" err="1"/>
              <a:t>App.jsx</a:t>
            </a:r>
            <a:r>
              <a:rPr sz="1200" dirty="0"/>
              <a:t>): Global states (</a:t>
            </a:r>
            <a:r>
              <a:rPr sz="1200" dirty="0" err="1"/>
              <a:t>tableCarts</a:t>
            </a:r>
            <a:r>
              <a:rPr sz="1200" dirty="0"/>
              <a:t>, </a:t>
            </a:r>
            <a:r>
              <a:rPr sz="1200" dirty="0" err="1"/>
              <a:t>tableBilledHistory</a:t>
            </a:r>
            <a:r>
              <a:rPr sz="1200" dirty="0"/>
              <a:t>, </a:t>
            </a:r>
            <a:r>
              <a:rPr sz="1200" dirty="0" err="1"/>
              <a:t>tableServedItems</a:t>
            </a:r>
            <a:r>
              <a:rPr sz="1200" dirty="0"/>
              <a:t>) live at root level.</a:t>
            </a:r>
            <a:endParaRPr lang="en-IN"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r>
              <a:rPr sz="1200" dirty="0"/>
              <a:t>•  Instant KDS Order Dispatch: Clicking 'Send to Kitchen' populates KDS tickets immediately without page reload.</a:t>
            </a:r>
            <a:endParaRPr lang="en-IN"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r>
              <a:rPr sz="1200" dirty="0"/>
              <a:t>•  Automated Table Status Sync: Completing a kitchen ticket updates table status to 'Served' automatically across views.</a:t>
            </a:r>
            <a:endParaRPr lang="en-IN"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r>
              <a:rPr sz="1200" dirty="0"/>
              <a:t>•  Cross-Route State Persistence: Interactions remain consistent when navigating between /Home, /Kitchen, and /Audit.</a:t>
            </a:r>
            <a:endParaRPr lang="en-IN"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r>
              <a:rPr sz="1200" dirty="0"/>
              <a:t>•  Multi-Table Seating Capacity: Supports independent draft carts across multiple seated dining tables simultaneously.</a:t>
            </a:r>
          </a:p>
        </p:txBody>
      </p:sp>
    </p:spTree>
  </p:cSld>
  <p:clrMapOvr>
    <a:masterClrMapping/>
  </p:clrMapOvr>
  <p:transition spd="med">
    <p:spli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411480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GROUP G14 • PROJECT ID: G14-PID-11 (P-21) • FRONT END ENGINEERING -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BF24"/>
                </a:solidFill>
              </a:defRPr>
            </a:pPr>
            <a:r>
              <a:t>Re-Render Audit Engine &amp; Virtual DOM Profiling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11480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lear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12124"/>
            <a:ext cx="4937760" cy="225671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26480" y="1783080"/>
            <a:ext cx="5333695" cy="411480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385" y="2047680"/>
            <a:ext cx="4967935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BBF24"/>
                </a:solidFill>
              </a:defRPr>
            </a:pPr>
            <a:r>
              <a:rPr sz="1600" i="1" u="sng" dirty="0"/>
              <a:t>Performance Metrics &amp; Profiling</a:t>
            </a:r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r>
              <a:rPr sz="1200" dirty="0"/>
              <a:t>•  Empirical Performance Profiling: Built-in /Audit route tracking component re-render events during cart updates.</a:t>
            </a:r>
            <a:endParaRPr lang="en-IN"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r>
              <a:rPr sz="1200" dirty="0"/>
              <a:t>•  Naive Mode (Top State): Mutating top-level state re-renders all 9 (or 200) menu cards per click.</a:t>
            </a:r>
            <a:endParaRPr lang="en-IN"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r>
              <a:rPr sz="1200" dirty="0"/>
              <a:t>•  Optimized Mode (Composition): Component composition isolates state so only 1 target card re-renders.</a:t>
            </a:r>
            <a:endParaRPr lang="en-IN"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r>
              <a:rPr sz="1200" dirty="0"/>
              <a:t>•  Dataset Stress Benchmark: Toggles dataset size from 9 items to 200 items to stress-test React Fiber reconciliation.</a:t>
            </a:r>
            <a:endParaRPr lang="en-IN"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endParaRPr sz="1200" dirty="0"/>
          </a:p>
          <a:p>
            <a:pPr>
              <a:spcBef>
                <a:spcPts val="600"/>
              </a:spcBef>
              <a:defRPr sz="919">
                <a:solidFill>
                  <a:srgbClr val="FEF3C7"/>
                </a:solidFill>
              </a:defRPr>
            </a:pPr>
            <a:r>
              <a:rPr sz="1200" dirty="0"/>
              <a:t>•  Empirical DOM Metrics: Provides real-time rendering statistics to evaluate frontend efficiency.</a:t>
            </a:r>
          </a:p>
        </p:txBody>
      </p:sp>
    </p:spTree>
  </p:cSld>
  <p:clrMapOvr>
    <a:masterClrMapping/>
  </p:clrMapOvr>
  <p:transition spd="med">
    <p:wipe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31520" y="411480"/>
            <a:ext cx="27432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3200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GROUP G14 • PROJECT ID: G14-PID-11 (P-21) • FRONT END ENGINEERING -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BBF24"/>
                </a:solidFill>
              </a:defRPr>
            </a:pPr>
            <a:r>
              <a:t>Future Engineering Scope &amp; Technical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4290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63240" cy="3606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rPr sz="1600" i="1" u="sng" dirty="0"/>
              <a:t>Phase 2: QR Code &amp; Self-Ordering</a:t>
            </a:r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r>
              <a:rPr sz="1400" dirty="0"/>
              <a:t>•  Guest mobile QR code table scanning.</a:t>
            </a:r>
            <a:endParaRPr lang="en-IN" sz="140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endParaRPr sz="140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r>
              <a:rPr sz="1400" dirty="0"/>
              <a:t>•  Digital menu browsing on personal devices.</a:t>
            </a:r>
            <a:endParaRPr lang="en-IN" sz="140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endParaRPr sz="140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r>
              <a:rPr sz="1400" dirty="0"/>
              <a:t>•  Direct-to-kitchen self-ordering workflow.</a:t>
            </a:r>
            <a:endParaRPr lang="en-IN" sz="140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endParaRPr sz="140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r>
              <a:rPr sz="1400" dirty="0"/>
              <a:t>•  Contactless seating &amp; order confirmation.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965960"/>
            <a:ext cx="34290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3712" y="2044893"/>
            <a:ext cx="3063240" cy="3636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rPr sz="1600" i="1" u="sng" dirty="0"/>
              <a:t>Phase 3: Digital Payments &amp; Cloud Sync</a:t>
            </a:r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r>
              <a:rPr sz="1400" dirty="0"/>
              <a:t>•  Integrated UPI, Credit/Debit card gateway.</a:t>
            </a:r>
            <a:endParaRPr lang="en-IN" sz="140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endParaRPr sz="140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r>
              <a:rPr sz="1400" dirty="0"/>
              <a:t>•  Automated split-bill payment processing.</a:t>
            </a:r>
            <a:endParaRPr lang="en-IN" sz="140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endParaRPr sz="140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r>
              <a:rPr sz="1400" dirty="0"/>
              <a:t>•  WebSocket real-time multi-branch sync.</a:t>
            </a:r>
            <a:endParaRPr lang="en-IN" sz="140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endParaRPr sz="140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r>
              <a:rPr sz="1400" dirty="0"/>
              <a:t>•  Cloud backend database persistence.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965960"/>
            <a:ext cx="3429000" cy="379476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93023" y="2065734"/>
            <a:ext cx="306324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rPr sz="1600" i="1" u="sng" dirty="0"/>
              <a:t>Phase 4: AI Recommendations &amp; Inventory</a:t>
            </a:r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r>
              <a:rPr sz="1350" dirty="0"/>
              <a:t>•  Smart dish pairing &amp; upsell suggestions.</a:t>
            </a:r>
            <a:endParaRPr lang="en-IN" sz="135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endParaRPr sz="135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r>
              <a:rPr sz="1350" dirty="0"/>
              <a:t>•  Automated inventory deduction on sales.</a:t>
            </a:r>
            <a:endParaRPr lang="en-IN" sz="135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endParaRPr sz="135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r>
              <a:rPr sz="1350" dirty="0"/>
              <a:t>•  Predictive ingredient restocking alerts.</a:t>
            </a:r>
            <a:endParaRPr lang="en-IN" sz="135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endParaRPr sz="1350" dirty="0"/>
          </a:p>
          <a:p>
            <a:pPr>
              <a:spcBef>
                <a:spcPts val="1000"/>
              </a:spcBef>
              <a:defRPr sz="980">
                <a:solidFill>
                  <a:srgbClr val="FEF3C7"/>
                </a:solidFill>
              </a:defRPr>
            </a:pPr>
            <a:r>
              <a:rPr sz="1350" dirty="0"/>
              <a:t>•  Analytics dashboard for restaurant managers.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rk_restaura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261619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97135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BBF24"/>
                </a:solidFill>
              </a:defRPr>
            </a:pPr>
            <a:r>
              <a:rPr i="1" u="sng" dirty="0"/>
              <a:t>THANK YOU</a:t>
            </a:r>
          </a:p>
          <a:p>
            <a:pPr algn="ctr">
              <a:spcBef>
                <a:spcPts val="1200"/>
              </a:spcBef>
              <a:defRPr sz="1600" b="1">
                <a:solidFill>
                  <a:srgbClr val="F97316"/>
                </a:solidFill>
              </a:defRPr>
            </a:pPr>
            <a:r>
              <a:rPr sz="1700" dirty="0"/>
              <a:t>RESTAURANT TABLE ORDERING SYSTEM (QUEEN'S KITCHEN)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38BDF8"/>
                </a:solidFill>
              </a:defRPr>
            </a:pPr>
            <a:r>
              <a:rPr sz="1600" dirty="0"/>
              <a:t>Department of Computer Science &amp; Engineering • Chitkara University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FDE047"/>
                </a:solidFill>
              </a:defRPr>
            </a:pPr>
            <a:r>
              <a:rPr sz="1400" dirty="0"/>
              <a:t>GROUP G14 • PROJECT ID: PID-11  • FRONT END ENGINEERING - I</a:t>
            </a:r>
            <a:r>
              <a:rPr lang="en-IN" sz="1400" dirty="0"/>
              <a:t>I</a:t>
            </a:r>
            <a:endParaRPr sz="14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1314</Words>
  <Application>Microsoft Office PowerPoint</Application>
  <PresentationFormat>Widescreen</PresentationFormat>
  <Paragraphs>226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Nishtha Sharma</cp:lastModifiedBy>
  <cp:revision>3</cp:revision>
  <dcterms:created xsi:type="dcterms:W3CDTF">2013-01-27T09:14:16Z</dcterms:created>
  <dcterms:modified xsi:type="dcterms:W3CDTF">2026-09-12T19:16:12Z</dcterms:modified>
  <cp:category/>
</cp:coreProperties>
</file>